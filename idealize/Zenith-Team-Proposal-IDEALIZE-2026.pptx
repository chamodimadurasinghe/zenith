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La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Lato-regular.fntdata"/><Relationship Id="rId17" Type="http://schemas.openxmlformats.org/officeDocument/2006/relationships/font" Target="fonts/Lato-bold.fntdata"/><Relationship Id="rId18" Type="http://schemas.openxmlformats.org/officeDocument/2006/relationships/font" Target="fonts/Lato-italic.fntdata"/><Relationship Id="rId19"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ea07a8a0b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ea07a8a0b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a07a8a0b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a07a8a0b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a07a8a0b5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a07a8a0b5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a07a8a0b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a07a8a0b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a07a8a0b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a07a8a0b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a07a8a0b5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a07a8a0b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a07a8a0b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a07a8a0b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a07a8a0b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a07a8a0b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a07a8a0b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a07a8a0b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click.aiesec.lk/cs/idealize-2026-proposal-submission-docum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TextBox 53"/>
          <p:cNvSpPr txBox="1"/>
          <p:nvPr/>
        </p:nvSpPr>
        <p:spPr>
          <a:xfrm>
            <a:off x="1097280" y="2788920"/>
            <a:ext cx="6949440" cy="502920"/>
          </a:xfrm>
          <a:prstGeom prst="rect">
            <a:avLst/>
          </a:prstGeom>
          <a:noFill/>
        </p:spPr>
        <p:txBody>
          <a:bodyPr wrap="square" anchor="t">
            <a:spAutoFit/>
          </a:bodyPr>
          <a:lstStyle/>
          <a:p>
            <a:pPr algn="ctr"/>
            <a:r>
              <a:rPr sz="1600" b="1">
                <a:solidFill>
                  <a:srgbClr val="FFFFFF"/>
                </a:solidFill>
                <a:latin typeface="Calibri"/>
              </a:rPr>
              <a:t>ZENITH — Agentic AI Cheque &amp; Cash-Flow for Sri Lankan SMEs</a:t>
            </a:r>
          </a:p>
        </p:txBody>
      </p:sp>
      <p:sp>
        <p:nvSpPr>
          <p:cNvPr id="55" name="TextBox 54"/>
          <p:cNvSpPr txBox="1"/>
          <p:nvPr/>
        </p:nvSpPr>
        <p:spPr>
          <a:xfrm>
            <a:off x="1097280" y="3246120"/>
            <a:ext cx="6949440" cy="320040"/>
          </a:xfrm>
          <a:prstGeom prst="rect">
            <a:avLst/>
          </a:prstGeom>
          <a:noFill/>
        </p:spPr>
        <p:txBody>
          <a:bodyPr wrap="square" anchor="t">
            <a:spAutoFit/>
          </a:bodyPr>
          <a:lstStyle/>
          <a:p>
            <a:pPr algn="ctr"/>
            <a:r>
              <a:rPr sz="1300" b="0">
                <a:solidFill>
                  <a:srgbClr val="FFFFFF"/>
                </a:solidFill>
                <a:latin typeface="Calibri"/>
              </a:rPr>
              <a:t>Team Name: [FILL IN]</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 name="Shape 57"/>
        <p:cNvGrpSpPr/>
        <p:nvPr/>
      </p:nvGrpSpPr>
      <p:grpSpPr>
        <a:xfrm>
          <a:off x="0" y="0"/>
          <a:ext cx="0" cy="0"/>
          <a:chOff x="0" y="0"/>
          <a:chExt cx="0" cy="0"/>
        </a:xfrm>
      </p:grpSpPr>
      <p:sp>
        <p:nvSpPr>
          <p:cNvPr id="58" name="Google Shape;58;p14"/>
          <p:cNvSpPr txBox="1"/>
          <p:nvPr/>
        </p:nvSpPr>
        <p:spPr>
          <a:xfrm>
            <a:off x="3758675" y="1206075"/>
            <a:ext cx="36585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9" name="Google Shape;59;p14"/>
          <p:cNvSpPr txBox="1"/>
          <p:nvPr/>
        </p:nvSpPr>
        <p:spPr>
          <a:xfrm>
            <a:off x="3758675" y="1685900"/>
            <a:ext cx="36585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0" name="Google Shape;60;p14"/>
          <p:cNvSpPr txBox="1"/>
          <p:nvPr/>
        </p:nvSpPr>
        <p:spPr>
          <a:xfrm>
            <a:off x="3758675" y="2122225"/>
            <a:ext cx="36585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1" name="Google Shape;61;p14"/>
          <p:cNvSpPr txBox="1"/>
          <p:nvPr/>
        </p:nvSpPr>
        <p:spPr>
          <a:xfrm>
            <a:off x="3758675" y="3021275"/>
            <a:ext cx="36585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2" name="Google Shape;62;p14"/>
          <p:cNvSpPr txBox="1"/>
          <p:nvPr/>
        </p:nvSpPr>
        <p:spPr>
          <a:xfrm>
            <a:off x="3758675" y="2571750"/>
            <a:ext cx="3658500" cy="3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3" name="Google Shape;63;p14"/>
          <p:cNvSpPr txBox="1"/>
          <p:nvPr/>
        </p:nvSpPr>
        <p:spPr>
          <a:xfrm>
            <a:off x="4806100" y="4283175"/>
            <a:ext cx="1926000" cy="33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u="sng">
                <a:solidFill>
                  <a:schemeClr val="dk1"/>
                </a:solidFill>
                <a:hlinkClick r:id="rId4">
                  <a:extLst>
                    <a:ext uri="{A12FA001-AC4F-418D-AE19-62706E023703}">
                      <ahyp:hlinkClr val="tx"/>
                    </a:ext>
                  </a:extLst>
                </a:hlinkClick>
              </a:rPr>
              <a:t>Proposal Guideline</a:t>
            </a:r>
            <a:endParaRPr>
              <a:solidFill>
                <a:schemeClr val="dk1"/>
              </a:solidFill>
            </a:endParaRPr>
          </a:p>
        </p:txBody>
      </p:sp>
      <p:sp>
        <p:nvSpPr>
          <p:cNvPr id="64" name="TextBox 63"/>
          <p:cNvSpPr txBox="1"/>
          <p:nvPr/>
        </p:nvSpPr>
        <p:spPr>
          <a:xfrm>
            <a:off x="4617720" y="1719072"/>
            <a:ext cx="3977639" cy="347472"/>
          </a:xfrm>
          <a:prstGeom prst="rect">
            <a:avLst/>
          </a:prstGeom>
          <a:noFill/>
        </p:spPr>
        <p:txBody>
          <a:bodyPr wrap="square" anchor="t">
            <a:spAutoFit/>
          </a:bodyPr>
          <a:lstStyle/>
          <a:p>
            <a:pPr algn="l"/>
            <a:r>
              <a:rPr sz="1100" b="0">
                <a:solidFill>
                  <a:srgbClr val="222222"/>
                </a:solidFill>
                <a:latin typeface="Calibri"/>
              </a:rPr>
              <a:t>[FILL IN — your team name]</a:t>
            </a:r>
          </a:p>
        </p:txBody>
      </p:sp>
      <p:sp>
        <p:nvSpPr>
          <p:cNvPr id="65" name="TextBox 64"/>
          <p:cNvSpPr txBox="1"/>
          <p:nvPr/>
        </p:nvSpPr>
        <p:spPr>
          <a:xfrm>
            <a:off x="4617720" y="2176272"/>
            <a:ext cx="3977639" cy="347472"/>
          </a:xfrm>
          <a:prstGeom prst="rect">
            <a:avLst/>
          </a:prstGeom>
          <a:noFill/>
        </p:spPr>
        <p:txBody>
          <a:bodyPr wrap="square" anchor="t">
            <a:spAutoFit/>
          </a:bodyPr>
          <a:lstStyle/>
          <a:p>
            <a:pPr algn="l"/>
            <a:r>
              <a:rPr sz="1100" b="0">
                <a:solidFill>
                  <a:srgbClr val="222222"/>
                </a:solidFill>
                <a:latin typeface="Calibri"/>
              </a:rPr>
              <a:t>Web App</a:t>
            </a:r>
          </a:p>
        </p:txBody>
      </p:sp>
      <p:sp>
        <p:nvSpPr>
          <p:cNvPr id="66" name="TextBox 65"/>
          <p:cNvSpPr txBox="1"/>
          <p:nvPr/>
        </p:nvSpPr>
        <p:spPr>
          <a:xfrm>
            <a:off x="4617720" y="2633472"/>
            <a:ext cx="3977639" cy="347472"/>
          </a:xfrm>
          <a:prstGeom prst="rect">
            <a:avLst/>
          </a:prstGeom>
          <a:noFill/>
        </p:spPr>
        <p:txBody>
          <a:bodyPr wrap="square" anchor="t">
            <a:spAutoFit/>
          </a:bodyPr>
          <a:lstStyle/>
          <a:p>
            <a:pPr algn="l"/>
            <a:r>
              <a:rPr sz="1100" b="0">
                <a:solidFill>
                  <a:srgbClr val="222222"/>
                </a:solidFill>
                <a:latin typeface="Calibri"/>
              </a:rPr>
              <a:t>Open Category</a:t>
            </a:r>
          </a:p>
        </p:txBody>
      </p:sp>
      <p:sp>
        <p:nvSpPr>
          <p:cNvPr id="67" name="TextBox 66"/>
          <p:cNvSpPr txBox="1"/>
          <p:nvPr/>
        </p:nvSpPr>
        <p:spPr>
          <a:xfrm>
            <a:off x="4617720" y="3090672"/>
            <a:ext cx="3977639" cy="347472"/>
          </a:xfrm>
          <a:prstGeom prst="rect">
            <a:avLst/>
          </a:prstGeom>
          <a:noFill/>
        </p:spPr>
        <p:txBody>
          <a:bodyPr wrap="square" anchor="t">
            <a:spAutoFit/>
          </a:bodyPr>
          <a:lstStyle/>
          <a:p>
            <a:pPr algn="l"/>
            <a:r>
              <a:rPr sz="1100" b="0">
                <a:solidFill>
                  <a:srgbClr val="222222"/>
                </a:solidFill>
                <a:latin typeface="Calibri"/>
              </a:rPr>
              <a:t>Zenith</a:t>
            </a:r>
          </a:p>
        </p:txBody>
      </p:sp>
      <p:sp>
        <p:nvSpPr>
          <p:cNvPr id="68" name="TextBox 67"/>
          <p:cNvSpPr txBox="1"/>
          <p:nvPr/>
        </p:nvSpPr>
        <p:spPr>
          <a:xfrm>
            <a:off x="4617720" y="3547872"/>
            <a:ext cx="3977639" cy="347472"/>
          </a:xfrm>
          <a:prstGeom prst="rect">
            <a:avLst/>
          </a:prstGeom>
          <a:noFill/>
        </p:spPr>
        <p:txBody>
          <a:bodyPr wrap="square" anchor="t">
            <a:spAutoFit/>
          </a:bodyPr>
          <a:lstStyle/>
          <a:p>
            <a:pPr algn="l"/>
            <a:r>
              <a:rPr sz="1100" b="0">
                <a:solidFill>
                  <a:srgbClr val="222222"/>
                </a:solidFill>
                <a:latin typeface="Calibri"/>
              </a:rPr>
              <a:t>FinTech / SME Cash-Flow &amp; Cheque Management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TextBox 67"/>
          <p:cNvSpPr txBox="1"/>
          <p:nvPr/>
        </p:nvSpPr>
        <p:spPr>
          <a:xfrm>
            <a:off x="2880360" y="1417320"/>
            <a:ext cx="5989320" cy="1234440"/>
          </a:xfrm>
          <a:prstGeom prst="rect">
            <a:avLst/>
          </a:prstGeom>
          <a:noFill/>
        </p:spPr>
        <p:txBody>
          <a:bodyPr wrap="square" anchor="t">
            <a:spAutoFit/>
          </a:bodyPr>
          <a:lstStyle/>
          <a:p>
            <a:pPr algn="l"/>
            <a:r>
              <a:rPr sz="1000" b="0">
                <a:solidFill>
                  <a:srgbClr val="222222"/>
                </a:solidFill>
                <a:latin typeface="Calibri"/>
              </a:rPr>
              <a:t>Sri Lankan SMEs receive supplier invoices daily but struggle to time cheque payments against CBSL bank holidays and interbank clearing rules. Grouping invoices under LKR cheque ceilings is manual and error-prone. Cashiers need a simple mobile channel while finance teams require verified records before cheques are written.</a:t>
            </a:r>
          </a:p>
        </p:txBody>
      </p:sp>
      <p:sp>
        <p:nvSpPr>
          <p:cNvPr id="69" name="TextBox 68"/>
          <p:cNvSpPr txBox="1"/>
          <p:nvPr/>
        </p:nvSpPr>
        <p:spPr>
          <a:xfrm>
            <a:off x="2880360" y="2788920"/>
            <a:ext cx="5989320" cy="1965960"/>
          </a:xfrm>
          <a:prstGeom prst="rect">
            <a:avLst/>
          </a:prstGeom>
          <a:noFill/>
        </p:spPr>
        <p:txBody>
          <a:bodyPr wrap="square" anchor="t">
            <a:spAutoFit/>
          </a:bodyPr>
          <a:lstStyle/>
          <a:p>
            <a:pPr algn="l"/>
            <a:r>
              <a:rPr sz="1000" b="0">
                <a:solidFill>
                  <a:srgbClr val="222222"/>
                </a:solidFill>
                <a:latin typeface="Calibri"/>
              </a:rPr>
              <a:t>Zenith is a Flask + SQLite web app with WhatsApp intake (Twilio). Cashiers send invoice photos; Gemini extracts fields; merchants verify on the dashboard. Python bundles invoices under an LKR ceiling, applies guardrails, and computes CBSL-aware liquidity dates. Features: invoice verification, cheque bundling chat, cash-flow deposit alerts, and analytics reports.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TextBox 71"/>
          <p:cNvSpPr txBox="1"/>
          <p:nvPr/>
        </p:nvSpPr>
        <p:spPr>
          <a:xfrm>
            <a:off x="2880360" y="1417320"/>
            <a:ext cx="5989320" cy="1417320"/>
          </a:xfrm>
          <a:prstGeom prst="rect">
            <a:avLst/>
          </a:prstGeom>
          <a:noFill/>
        </p:spPr>
        <p:txBody>
          <a:bodyPr wrap="square" anchor="t">
            <a:spAutoFit/>
          </a:bodyPr>
          <a:lstStyle/>
          <a:p>
            <a:pPr algn="l"/>
            <a:r>
              <a:rPr sz="1000" b="0">
                <a:solidFill>
                  <a:srgbClr val="222222"/>
                </a:solidFill>
                <a:latin typeface="Calibri"/>
              </a:rPr>
              <a:t>Five specialized agents: (1) Ingestion — Gemini vision reads invoices/cheques and supplier details; (2) Cheque Assistant — OpenAI bundling chat emits proposed_actions JSON; (3) Analyst — post-commit markdown reports; (4) Guide — in-app help only; (5) Liquidity Reviewer — audits bundles for max legal float. Python guardrails validate every action; humans verify before database commit.</a:t>
            </a:r>
          </a:p>
        </p:txBody>
      </p:sp>
      <p:sp>
        <p:nvSpPr>
          <p:cNvPr id="73" name="TextBox 72"/>
          <p:cNvSpPr txBox="1"/>
          <p:nvPr/>
        </p:nvSpPr>
        <p:spPr>
          <a:xfrm>
            <a:off x="2880360" y="2971800"/>
            <a:ext cx="5989320" cy="1783080"/>
          </a:xfrm>
          <a:prstGeom prst="rect">
            <a:avLst/>
          </a:prstGeom>
          <a:noFill/>
        </p:spPr>
        <p:txBody>
          <a:bodyPr wrap="square" anchor="t">
            <a:spAutoFit/>
          </a:bodyPr>
          <a:lstStyle/>
          <a:p>
            <a:pPr algn="l"/>
            <a:r>
              <a:rPr sz="1000" b="0">
                <a:solidFill>
                  <a:srgbClr val="222222"/>
                </a:solidFill>
                <a:latin typeface="Calibri"/>
              </a:rPr>
              <a:t>Stack: Python 3.12, Flask, SQLite, Google Gemini, OpenAI, Twilio WhatsApp. Core modules: guardrails.py, liquidity_engine.py (CBSL holidays), bundling.py, cash_flow.py. Feasibility: working prototype with web UI, WhatsApp webhook, multi-agent chat, and pending invoice verification flow.</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TextBox 75"/>
          <p:cNvSpPr txBox="1"/>
          <p:nvPr/>
        </p:nvSpPr>
        <p:spPr>
          <a:xfrm>
            <a:off x="2880360" y="1417320"/>
            <a:ext cx="5989320" cy="1234440"/>
          </a:xfrm>
          <a:prstGeom prst="rect">
            <a:avLst/>
          </a:prstGeom>
          <a:noFill/>
        </p:spPr>
        <p:txBody>
          <a:bodyPr wrap="square" anchor="t">
            <a:spAutoFit/>
          </a:bodyPr>
          <a:lstStyle/>
          <a:p>
            <a:pPr algn="l"/>
            <a:r>
              <a:rPr sz="1000" b="0">
                <a:solidFill>
                  <a:srgbClr val="222222"/>
                </a:solidFill>
                <a:latin typeface="Calibri"/>
              </a:rPr>
              <a:t>Target users: Sri Lankan hardware merchants, finance staff, and field cashiers. Value: faster invoice intake via WhatsApp, smarter cheque dates, fewer surprise bank deposits, and extra working-capital float from holiday-aware scheduling.</a:t>
            </a:r>
          </a:p>
        </p:txBody>
      </p:sp>
      <p:sp>
        <p:nvSpPr>
          <p:cNvPr id="77" name="TextBox 76"/>
          <p:cNvSpPr txBox="1"/>
          <p:nvPr/>
        </p:nvSpPr>
        <p:spPr>
          <a:xfrm>
            <a:off x="2880360" y="2788920"/>
            <a:ext cx="5989320" cy="1828800"/>
          </a:xfrm>
          <a:prstGeom prst="rect">
            <a:avLst/>
          </a:prstGeom>
          <a:noFill/>
        </p:spPr>
        <p:txBody>
          <a:bodyPr wrap="square" anchor="t">
            <a:spAutoFit/>
          </a:bodyPr>
          <a:lstStyle/>
          <a:p>
            <a:pPr algn="l"/>
            <a:r>
              <a:rPr sz="1000" b="0">
                <a:solidFill>
                  <a:srgbClr val="222222"/>
                </a:solidFill>
                <a:latin typeface="Calibri"/>
              </a:rPr>
              <a:t>Subscription or per-merchant licensing for SMEs; expandable to more banks and suppliers. CBSL holiday sync keeps rules current. Agent prompts and guardrails can extend to payroll, supplier payments, and multi-branch operations without replacing human approval.</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 name="Shape 79"/>
        <p:cNvGrpSpPr/>
        <p:nvPr/>
      </p:nvGrpSpPr>
      <p:grpSpPr>
        <a:xfrm>
          <a:off x="0" y="0"/>
          <a:ext cx="0" cy="0"/>
          <a:chOff x="0" y="0"/>
          <a:chExt cx="0" cy="0"/>
        </a:xfrm>
      </p:grpSpPr>
      <p:sp>
        <p:nvSpPr>
          <p:cNvPr id="80" name="Google Shape;80;p18"/>
          <p:cNvSpPr txBox="1"/>
          <p:nvPr/>
        </p:nvSpPr>
        <p:spPr>
          <a:xfrm>
            <a:off x="1143450" y="3665750"/>
            <a:ext cx="4261200" cy="1302300"/>
          </a:xfrm>
          <a:prstGeom prst="rect">
            <a:avLst/>
          </a:prstGeom>
          <a:noFill/>
          <a:ln>
            <a:noFill/>
          </a:ln>
        </p:spPr>
        <p:txBody>
          <a:bodyPr anchorCtr="0" anchor="t" bIns="91425" lIns="91425" spcFirstLastPara="1" rIns="91425" wrap="square" tIns="91425">
            <a:spAutoFit/>
          </a:bodyPr>
          <a:lstStyle/>
          <a:p>
            <a:pPr indent="-298450" lvl="0" marL="457200" rtl="0" algn="l">
              <a:lnSpc>
                <a:spcPct val="140000"/>
              </a:lnSpc>
              <a:spcBef>
                <a:spcPts val="2500"/>
              </a:spcBef>
              <a:spcAft>
                <a:spcPts val="0"/>
              </a:spcAft>
              <a:buClr>
                <a:schemeClr val="dk1"/>
              </a:buClr>
              <a:buSzPts val="1100"/>
              <a:buFont typeface="Lato"/>
              <a:buChar char="●"/>
            </a:pPr>
            <a:r>
              <a:rPr sz="1100" b="0">
                <a:solidFill>
                  <a:srgbClr val="222222"/>
                </a:solidFill>
                <a:latin typeface="Calibri"/>
              </a:rPr>
              <a:t>Member 1
Name:
University / School:
NIC No:
Email:
Contact Number:</a:t>
            </a:r>
            <a:endParaRPr sz="1100">
              <a:solidFill>
                <a:schemeClr val="dk1"/>
              </a:solidFill>
              <a:latin typeface="Lato"/>
              <a:ea typeface="Lato"/>
              <a:cs typeface="Lato"/>
              <a:sym typeface="Lato"/>
            </a:endParaRPr>
          </a:p>
        </p:txBody>
      </p:sp>
      <p:sp>
        <p:nvSpPr>
          <p:cNvPr id="81" name="Google Shape;81;p18"/>
          <p:cNvSpPr txBox="1"/>
          <p:nvPr/>
        </p:nvSpPr>
        <p:spPr>
          <a:xfrm>
            <a:off x="5494200" y="3665750"/>
            <a:ext cx="4261200" cy="1302300"/>
          </a:xfrm>
          <a:prstGeom prst="rect">
            <a:avLst/>
          </a:prstGeom>
          <a:noFill/>
          <a:ln>
            <a:noFill/>
          </a:ln>
        </p:spPr>
        <p:txBody>
          <a:bodyPr anchorCtr="0" anchor="t" bIns="91425" lIns="91425" spcFirstLastPara="1" rIns="91425" wrap="square" tIns="91425">
            <a:spAutoFit/>
          </a:bodyPr>
          <a:lstStyle/>
          <a:p>
            <a:pPr indent="-298450" lvl="0" marL="457200" rtl="0" algn="l">
              <a:lnSpc>
                <a:spcPct val="140000"/>
              </a:lnSpc>
              <a:spcBef>
                <a:spcPts val="2500"/>
              </a:spcBef>
              <a:spcAft>
                <a:spcPts val="0"/>
              </a:spcAft>
              <a:buClr>
                <a:schemeClr val="dk1"/>
              </a:buClr>
              <a:buSzPts val="1100"/>
              <a:buFont typeface="Lato"/>
              <a:buChar char="●"/>
            </a:pPr>
            <a:r>
              <a:rPr sz="1100" b="0">
                <a:solidFill>
                  <a:srgbClr val="222222"/>
                </a:solidFill>
                <a:latin typeface="Calibri"/>
              </a:rPr>
              <a:t>Member 2
Name:
University / School:
NIC No:
Email:
Contact Number:</a:t>
            </a:r>
            <a:endParaRPr sz="110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9"/>
          <p:cNvSpPr txBox="1"/>
          <p:nvPr/>
        </p:nvSpPr>
        <p:spPr>
          <a:xfrm>
            <a:off x="1143450" y="3665750"/>
            <a:ext cx="4261200" cy="1302300"/>
          </a:xfrm>
          <a:prstGeom prst="rect">
            <a:avLst/>
          </a:prstGeom>
          <a:noFill/>
          <a:ln>
            <a:noFill/>
          </a:ln>
        </p:spPr>
        <p:txBody>
          <a:bodyPr anchorCtr="0" anchor="t" bIns="91425" lIns="91425" spcFirstLastPara="1" rIns="91425" wrap="square" tIns="91425">
            <a:spAutoFit/>
          </a:bodyPr>
          <a:lstStyle/>
          <a:p>
            <a:pPr indent="-298450" lvl="0" marL="457200" rtl="0" algn="l">
              <a:lnSpc>
                <a:spcPct val="140000"/>
              </a:lnSpc>
              <a:spcBef>
                <a:spcPts val="2500"/>
              </a:spcBef>
              <a:spcAft>
                <a:spcPts val="0"/>
              </a:spcAft>
              <a:buClr>
                <a:schemeClr val="dk1"/>
              </a:buClr>
              <a:buSzPts val="1100"/>
              <a:buFont typeface="Lato"/>
              <a:buChar char="●"/>
            </a:pPr>
            <a:r>
              <a:rPr sz="1100" b="0">
                <a:solidFill>
                  <a:srgbClr val="222222"/>
                </a:solidFill>
                <a:latin typeface="Calibri"/>
              </a:rPr>
              <a:t>Member 3
Name:
University / School:
NIC No:
Email:
Contact Number:</a:t>
            </a:r>
            <a:endParaRPr sz="1100">
              <a:solidFill>
                <a:schemeClr val="dk1"/>
              </a:solidFill>
              <a:latin typeface="Lato"/>
              <a:ea typeface="Lato"/>
              <a:cs typeface="Lato"/>
              <a:sym typeface="Lato"/>
            </a:endParaRPr>
          </a:p>
        </p:txBody>
      </p:sp>
      <p:sp>
        <p:nvSpPr>
          <p:cNvPr id="87" name="Google Shape;87;p19"/>
          <p:cNvSpPr txBox="1"/>
          <p:nvPr/>
        </p:nvSpPr>
        <p:spPr>
          <a:xfrm>
            <a:off x="5494200" y="3665750"/>
            <a:ext cx="4261200" cy="1302300"/>
          </a:xfrm>
          <a:prstGeom prst="rect">
            <a:avLst/>
          </a:prstGeom>
          <a:noFill/>
          <a:ln>
            <a:noFill/>
          </a:ln>
        </p:spPr>
        <p:txBody>
          <a:bodyPr anchorCtr="0" anchor="t" bIns="91425" lIns="91425" spcFirstLastPara="1" rIns="91425" wrap="square" tIns="91425">
            <a:spAutoFit/>
          </a:bodyPr>
          <a:lstStyle/>
          <a:p>
            <a:pPr indent="-298450" lvl="0" marL="457200" rtl="0" algn="l">
              <a:lnSpc>
                <a:spcPct val="140000"/>
              </a:lnSpc>
              <a:spcBef>
                <a:spcPts val="2500"/>
              </a:spcBef>
              <a:spcAft>
                <a:spcPts val="0"/>
              </a:spcAft>
              <a:buClr>
                <a:schemeClr val="dk1"/>
              </a:buClr>
              <a:buSzPts val="1100"/>
              <a:buFont typeface="Lato"/>
              <a:buChar char="●"/>
            </a:pPr>
            <a:r>
              <a:rPr sz="1100" b="0">
                <a:solidFill>
                  <a:srgbClr val="222222"/>
                </a:solidFill>
                <a:latin typeface="Calibri"/>
              </a:rPr>
              <a:t>Member 4
Name:
University / School:
NIC No:
Email:
Contact Number:</a:t>
            </a:r>
            <a:endParaRPr sz="11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 name="Shape 91"/>
        <p:cNvGrpSpPr/>
        <p:nvPr/>
      </p:nvGrpSpPr>
      <p:grpSpPr>
        <a:xfrm>
          <a:off x="0" y="0"/>
          <a:ext cx="0" cy="0"/>
          <a:chOff x="0" y="0"/>
          <a:chExt cx="0" cy="0"/>
        </a:xfrm>
      </p:grpSpPr>
      <p:sp>
        <p:nvSpPr>
          <p:cNvPr id="92" name="Google Shape;92;p20"/>
          <p:cNvSpPr txBox="1"/>
          <p:nvPr/>
        </p:nvSpPr>
        <p:spPr>
          <a:xfrm>
            <a:off x="4094850" y="2830850"/>
            <a:ext cx="4261200" cy="1302300"/>
          </a:xfrm>
          <a:prstGeom prst="rect">
            <a:avLst/>
          </a:prstGeom>
          <a:noFill/>
          <a:ln>
            <a:noFill/>
          </a:ln>
        </p:spPr>
        <p:txBody>
          <a:bodyPr anchorCtr="0" anchor="t" bIns="91425" lIns="91425" spcFirstLastPara="1" rIns="91425" wrap="square" tIns="91425">
            <a:spAutoFit/>
          </a:bodyPr>
          <a:lstStyle/>
          <a:p>
            <a:pPr indent="-298450" lvl="0" marL="457200" rtl="0" algn="l">
              <a:lnSpc>
                <a:spcPct val="140000"/>
              </a:lnSpc>
              <a:spcBef>
                <a:spcPts val="2500"/>
              </a:spcBef>
              <a:spcAft>
                <a:spcPts val="0"/>
              </a:spcAft>
              <a:buClr>
                <a:schemeClr val="dk1"/>
              </a:buClr>
              <a:buSzPts val="1100"/>
              <a:buFont typeface="Lato"/>
              <a:buChar char="●"/>
            </a:pPr>
            <a:r>
              <a:rPr sz="1100" b="0">
                <a:solidFill>
                  <a:srgbClr val="222222"/>
                </a:solidFill>
                <a:latin typeface="Calibri"/>
              </a:rPr>
              <a:t>Member 5
Name:
University / School:
NIC No:
Email:
Contact Number:</a:t>
            </a:r>
            <a:endParaRPr sz="1100">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TextBox 96"/>
          <p:cNvSpPr txBox="1"/>
          <p:nvPr/>
        </p:nvSpPr>
        <p:spPr>
          <a:xfrm>
            <a:off x="914400" y="2011680"/>
            <a:ext cx="7315200" cy="1828800"/>
          </a:xfrm>
          <a:prstGeom prst="rect">
            <a:avLst/>
          </a:prstGeom>
          <a:noFill/>
        </p:spPr>
        <p:txBody>
          <a:bodyPr wrap="square" anchor="t">
            <a:spAutoFit/>
          </a:bodyPr>
          <a:lstStyle/>
          <a:p>
            <a:pPr algn="ctr"/>
            <a:r>
              <a:rPr sz="1400" b="1">
                <a:solidFill>
                  <a:srgbClr val="3B1C5A"/>
                </a:solidFill>
                <a:latin typeface="Calibri"/>
              </a:rPr>
              <a:t>Pitch: Zenith is a multi-agent SME finance copilot that reads invoices on WhatsApp, bundles cheques under guardrails, and maximizes legal cash float using CBSL clearing rules.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